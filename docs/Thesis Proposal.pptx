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753600" cy="7315200"/>
  <p:notesSz cx="6858000" cy="9144000"/>
  <p:embeddedFontLst>
    <p:embeddedFont>
      <p:font typeface="Canva Sans Bold" charset="1" panose="020B0803030501040103"/>
      <p:regular r:id="rId35"/>
    </p:embeddedFont>
    <p:embeddedFont>
      <p:font typeface="Canva Sans Medium" charset="1" panose="020B0603030501040103"/>
      <p:regular r:id="rId36"/>
    </p:embeddedFont>
    <p:embeddedFont>
      <p:font typeface="Canva Sans" charset="1" panose="020B0503030501040103"/>
      <p:regular r:id="rId37"/>
    </p:embeddedFont>
    <p:embeddedFont>
      <p:font typeface="Canva Sans Medium Italics" charset="1" panose="020B0603030501040103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9875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8892028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7618" y="1444827"/>
            <a:ext cx="7418363" cy="261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7"/>
              </a:lnSpc>
            </a:pPr>
            <a:r>
              <a:rPr lang="en-US" sz="39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of a Rental Management System with Analytics Dashboard for </a:t>
            </a:r>
          </a:p>
          <a:p>
            <a:pPr algn="ctr">
              <a:lnSpc>
                <a:spcPts val="5187"/>
              </a:lnSpc>
            </a:pPr>
            <a:r>
              <a:rPr lang="en-US" sz="39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Data-Driven Decision Making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39059" y="4559300"/>
            <a:ext cx="3275483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b="true" sz="2199" spc="109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</a:t>
            </a:r>
          </a:p>
          <a:p>
            <a:pPr algn="ctr">
              <a:lnSpc>
                <a:spcPts val="1949"/>
              </a:lnSpc>
            </a:pPr>
          </a:p>
          <a:p>
            <a:pPr algn="ctr">
              <a:lnSpc>
                <a:spcPts val="1949"/>
              </a:lnSpc>
            </a:pPr>
          </a:p>
          <a:p>
            <a:pPr algn="ctr">
              <a:lnSpc>
                <a:spcPts val="1949"/>
              </a:lnSpc>
            </a:pPr>
            <a:r>
              <a:rPr lang="en-US" b="true" sz="1499" spc="74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Shofa Yasmin Fauziah</a:t>
            </a:r>
          </a:p>
          <a:p>
            <a:pPr algn="ctr">
              <a:lnSpc>
                <a:spcPts val="1949"/>
              </a:lnSpc>
            </a:pPr>
            <a:r>
              <a:rPr lang="en-US" b="true" sz="1499" spc="74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225152011406</a:t>
            </a:r>
          </a:p>
          <a:p>
            <a:pPr algn="ctr">
              <a:lnSpc>
                <a:spcPts val="1949"/>
              </a:lnSpc>
            </a:pPr>
            <a:r>
              <a:rPr lang="en-US" b="true" sz="1499" spc="74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Computer Science</a:t>
            </a:r>
          </a:p>
          <a:p>
            <a:pPr algn="ctr">
              <a:lnSpc>
                <a:spcPts val="1949"/>
              </a:lnSpc>
            </a:pPr>
            <a:r>
              <a:rPr lang="en-US" b="true" sz="1499" spc="74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Shenyang Aerospace University</a:t>
            </a:r>
          </a:p>
          <a:p>
            <a:pPr algn="ctr">
              <a:lnSpc>
                <a:spcPts val="1949"/>
              </a:lnSpc>
            </a:pPr>
            <a:r>
              <a:rPr lang="en-US" b="true" sz="1499" spc="74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81816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587459" y="2587459"/>
            <a:ext cx="7315200" cy="2140283"/>
          </a:xfrm>
          <a:custGeom>
            <a:avLst/>
            <a:gdLst/>
            <a:ahLst/>
            <a:cxnLst/>
            <a:rect r="r" b="b" t="t" l="l"/>
            <a:pathLst>
              <a:path h="2140283" w="7315200">
                <a:moveTo>
                  <a:pt x="0" y="0"/>
                </a:moveTo>
                <a:lnTo>
                  <a:pt x="7315200" y="0"/>
                </a:lnTo>
                <a:lnTo>
                  <a:pt x="7315200" y="2140282"/>
                </a:lnTo>
                <a:lnTo>
                  <a:pt x="0" y="2140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6179" r="0" b="-20617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731520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1460064"/>
            <a:ext cx="630496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3262" y="2545914"/>
            <a:ext cx="2521805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Background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Research Objectives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Scope and Limitation</a:t>
            </a:r>
          </a:p>
        </p:txBody>
      </p:sp>
      <p:sp>
        <p:nvSpPr>
          <p:cNvPr name="AutoShape 6" id="6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7" id="7"/>
          <p:cNvSpPr txBox="true"/>
          <p:nvPr/>
        </p:nvSpPr>
        <p:spPr>
          <a:xfrm rot="5400000">
            <a:off x="8205371" y="1374240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262" y="4359956"/>
            <a:ext cx="2521805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House Rent</a:t>
            </a: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al Management System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Exploratory Data Analysis (EDA)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Decision Support System (DSS)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Key Performance  Indicators (KPI)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61399" y="2545914"/>
            <a:ext cx="2521805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and Data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System Overview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System Gap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Proposed Solution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Data Description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Data Flow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Dashboard Output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Methodology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Technology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Expected Result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Contribution</a:t>
            </a:r>
          </a:p>
          <a:p>
            <a:pPr algn="l" marL="323850" indent="-161925" lvl="1">
              <a:lnSpc>
                <a:spcPts val="2100"/>
              </a:lnSpc>
              <a:buAutoNum type="arabicPeriod" startAt="1"/>
            </a:pPr>
            <a:r>
              <a:rPr lang="en-US" sz="150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Closing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65715" y="6108527"/>
            <a:ext cx="252180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b="true" sz="15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9317" y="2545914"/>
            <a:ext cx="133945" cy="32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0"/>
              </a:lnSpc>
              <a:spcBef>
                <a:spcPct val="0"/>
              </a:spcBef>
            </a:pPr>
            <a:r>
              <a:rPr lang="en-US" b="true" sz="20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752" y="4359956"/>
            <a:ext cx="141536" cy="32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0"/>
              </a:lnSpc>
              <a:spcBef>
                <a:spcPct val="0"/>
              </a:spcBef>
            </a:pPr>
            <a:r>
              <a:rPr lang="en-US" b="true" sz="20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15548" y="2545914"/>
            <a:ext cx="150168" cy="32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0"/>
              </a:lnSpc>
              <a:spcBef>
                <a:spcPct val="0"/>
              </a:spcBef>
            </a:pPr>
            <a:r>
              <a:rPr lang="en-US" b="true" sz="20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3431" y="6401937"/>
            <a:ext cx="10411869" cy="2140283"/>
          </a:xfrm>
          <a:custGeom>
            <a:avLst/>
            <a:gdLst/>
            <a:ahLst/>
            <a:cxnLst/>
            <a:rect r="r" b="b" t="t" l="l"/>
            <a:pathLst>
              <a:path h="2140283" w="10411869">
                <a:moveTo>
                  <a:pt x="0" y="0"/>
                </a:moveTo>
                <a:lnTo>
                  <a:pt x="10411869" y="0"/>
                </a:lnTo>
                <a:lnTo>
                  <a:pt x="10411869" y="2140282"/>
                </a:lnTo>
                <a:lnTo>
                  <a:pt x="0" y="2140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625" r="0" b="-3146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731520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19129" y="2286000"/>
            <a:ext cx="511534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6" id="6"/>
          <p:cNvSpPr txBox="true"/>
          <p:nvPr/>
        </p:nvSpPr>
        <p:spPr>
          <a:xfrm rot="5400000">
            <a:off x="8205371" y="1374240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821680" y="3383280"/>
            <a:ext cx="7315200" cy="548640"/>
          </a:xfrm>
          <a:custGeom>
            <a:avLst/>
            <a:gdLst/>
            <a:ahLst/>
            <a:cxnLst/>
            <a:rect r="r" b="b" t="t" l="l"/>
            <a:pathLst>
              <a:path h="548640" w="7315200">
                <a:moveTo>
                  <a:pt x="0" y="0"/>
                </a:moveTo>
                <a:lnTo>
                  <a:pt x="7315200" y="0"/>
                </a:lnTo>
                <a:lnTo>
                  <a:pt x="731520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9375" r="0" b="-9493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04960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31520" y="2126082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0">
            <a:off x="3647351" y="528197"/>
            <a:ext cx="508740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sz="5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Background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765808" y="1908197"/>
            <a:ext cx="2831291" cy="1801914"/>
            <a:chOff x="0" y="0"/>
            <a:chExt cx="3775055" cy="240255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3775055" cy="422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0"/>
                </a:lnSpc>
              </a:pPr>
              <a:r>
                <a:rPr lang="en-US" sz="2083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64426"/>
              <a:ext cx="3775055" cy="1738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2"/>
                </a:lnSpc>
              </a:pPr>
              <a:r>
                <a:rPr lang="en-US" sz="1644" b="true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 </a:t>
              </a:r>
              <a:r>
                <a:rPr lang="en-US" sz="1644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However</a:t>
              </a:r>
              <a:r>
                <a:rPr lang="en-US" sz="1644" b="true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: </a:t>
              </a:r>
            </a:p>
            <a:p>
              <a:pPr algn="l" marL="315216" indent="-157608" lvl="1">
                <a:lnSpc>
                  <a:spcPts val="2044"/>
                </a:lnSpc>
                <a:buFont typeface="Arial"/>
                <a:buChar char="•"/>
              </a:pPr>
              <a:r>
                <a:rPr lang="en-US" sz="146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is not used for analysis </a:t>
              </a:r>
            </a:p>
            <a:p>
              <a:pPr algn="l" marL="315216" indent="-157608" lvl="1">
                <a:lnSpc>
                  <a:spcPts val="2044"/>
                </a:lnSpc>
                <a:buFont typeface="Arial"/>
                <a:buChar char="•"/>
              </a:pPr>
              <a:r>
                <a:rPr lang="en-US" sz="146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No insights decision making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318604" y="1908197"/>
            <a:ext cx="2237975" cy="1913868"/>
            <a:chOff x="0" y="0"/>
            <a:chExt cx="2983967" cy="255182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2983967" cy="422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0"/>
                </a:lnSpc>
              </a:pPr>
              <a:r>
                <a:rPr lang="en-US" sz="2083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64426"/>
              <a:ext cx="2983967" cy="1887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2"/>
                </a:lnSpc>
              </a:pPr>
              <a:r>
                <a:rPr lang="en-US" sz="1644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Existing systems only focus on:</a:t>
              </a:r>
              <a:r>
                <a:rPr lang="en-US" sz="1644" b="true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 </a:t>
              </a:r>
            </a:p>
            <a:p>
              <a:pPr algn="l">
                <a:lnSpc>
                  <a:spcPts val="2302"/>
                </a:lnSpc>
              </a:pPr>
              <a:r>
                <a:rPr lang="en-US" sz="1644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storage &amp; management</a:t>
              </a:r>
            </a:p>
            <a:p>
              <a:pPr algn="l">
                <a:lnSpc>
                  <a:spcPts val="230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8050" y="1908197"/>
            <a:ext cx="2154436" cy="2424065"/>
            <a:chOff x="0" y="0"/>
            <a:chExt cx="2872581" cy="323208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2872581" cy="417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00"/>
                </a:lnSpc>
              </a:pPr>
              <a:r>
                <a:rPr lang="en-US" sz="2083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35053"/>
              <a:ext cx="2872581" cy="2597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2"/>
                </a:lnSpc>
              </a:pPr>
              <a:r>
                <a:rPr lang="en-US" sz="1644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Rental management systems are widely used to:</a:t>
              </a:r>
            </a:p>
            <a:p>
              <a:pPr algn="l" marL="335157" indent="-167579" lvl="1">
                <a:lnSpc>
                  <a:spcPts val="2173"/>
                </a:lnSpc>
                <a:buFont typeface="Arial"/>
                <a:buChar char="•"/>
              </a:pPr>
              <a:r>
                <a:rPr lang="en-US" sz="1552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</a:t>
              </a:r>
              <a:r>
                <a:rPr lang="en-US" sz="1552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anage properties</a:t>
              </a:r>
            </a:p>
            <a:p>
              <a:pPr algn="l" marL="335157" indent="-167579" lvl="1">
                <a:lnSpc>
                  <a:spcPts val="2173"/>
                </a:lnSpc>
                <a:buFont typeface="Arial"/>
                <a:buChar char="•"/>
              </a:pPr>
              <a:r>
                <a:rPr lang="en-US" sz="1552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</a:t>
              </a:r>
              <a:r>
                <a:rPr lang="en-US" sz="1552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andle transactions</a:t>
              </a:r>
            </a:p>
            <a:p>
              <a:pPr algn="l">
                <a:lnSpc>
                  <a:spcPts val="243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791777" y="4323478"/>
            <a:ext cx="5942983" cy="1234515"/>
            <a:chOff x="0" y="0"/>
            <a:chExt cx="7923978" cy="164602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9525"/>
              <a:ext cx="7923978" cy="485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946"/>
                </a:lnSpc>
              </a:pPr>
              <a:r>
                <a:rPr lang="en-US" sz="2455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Result: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60599"/>
              <a:ext cx="7923978" cy="885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72"/>
                </a:lnSpc>
              </a:pPr>
              <a:r>
                <a:rPr lang="en-US" sz="1980" b="true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Users cannot understand system performance, the system only stores data without analysis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48755" y="6034243"/>
            <a:ext cx="705609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b="true" sz="1699" i="true">
                <a:solidFill>
                  <a:srgbClr val="003366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In this st</a:t>
            </a:r>
            <a:r>
              <a:rPr lang="en-US" b="true" sz="1699" i="true">
                <a:solidFill>
                  <a:srgbClr val="003366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udy, rental data is obtained from a public dataset (Kaggle)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134" y="2498362"/>
            <a:ext cx="3222679" cy="1965834"/>
          </a:xfrm>
          <a:custGeom>
            <a:avLst/>
            <a:gdLst/>
            <a:ahLst/>
            <a:cxnLst/>
            <a:rect r="r" b="b" t="t" l="l"/>
            <a:pathLst>
              <a:path h="1965834" w="3222679">
                <a:moveTo>
                  <a:pt x="0" y="0"/>
                </a:moveTo>
                <a:lnTo>
                  <a:pt x="3222679" y="0"/>
                </a:lnTo>
                <a:lnTo>
                  <a:pt x="3222679" y="1965835"/>
                </a:lnTo>
                <a:lnTo>
                  <a:pt x="0" y="19658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32083" y="2788250"/>
            <a:ext cx="1089435" cy="108943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1064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03200"/>
              <a:ext cx="711200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128922" y="3248766"/>
            <a:ext cx="2789646" cy="2430862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6486666" y="731520"/>
            <a:ext cx="2074159" cy="2074159"/>
            <a:chOff x="0" y="0"/>
            <a:chExt cx="2765546" cy="276554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765546" cy="2765546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EB9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0"/>
                  </a:lnSpc>
                </a:pPr>
              </a:p>
            </p:txBody>
          </p:sp>
        </p:grpSp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0">
              <a:off x="-276555" y="-276555"/>
              <a:ext cx="3318655" cy="3275825"/>
            </a:xfrm>
            <a:prstGeom prst="rect">
              <a:avLst/>
            </a:prstGeom>
          </p:spPr>
        </p:pic>
      </p:grpSp>
      <p:sp>
        <p:nvSpPr>
          <p:cNvPr name="TextBox 12" id="12"/>
          <p:cNvSpPr txBox="true"/>
          <p:nvPr/>
        </p:nvSpPr>
        <p:spPr>
          <a:xfrm rot="0">
            <a:off x="1641875" y="5724454"/>
            <a:ext cx="1721197" cy="760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6"/>
              </a:lnSpc>
            </a:pPr>
            <a:r>
              <a:rPr lang="en-US" sz="1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raw data</a:t>
            </a:r>
          </a:p>
          <a:p>
            <a:pPr algn="ctr">
              <a:lnSpc>
                <a:spcPts val="3116"/>
              </a:lnSpc>
            </a:pPr>
            <a:r>
              <a:rPr lang="en-US" b="true" sz="1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useful yet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21517" y="5712643"/>
            <a:ext cx="3582742" cy="7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b="true" sz="1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</a:t>
            </a:r>
            <a:r>
              <a:rPr lang="en-US" b="true" sz="1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meaningful data that can be used for decision making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722695"/>
            <a:ext cx="626675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sz="5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5400000">
            <a:off x="8205371" y="1374240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05217" y="2107356"/>
            <a:ext cx="3952050" cy="2455043"/>
            <a:chOff x="0" y="0"/>
            <a:chExt cx="5269399" cy="32733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69399" cy="3273391"/>
            </a:xfrm>
            <a:custGeom>
              <a:avLst/>
              <a:gdLst/>
              <a:ahLst/>
              <a:cxnLst/>
              <a:rect r="r" b="b" t="t" l="l"/>
              <a:pathLst>
                <a:path h="3273391" w="5269399">
                  <a:moveTo>
                    <a:pt x="0" y="0"/>
                  </a:moveTo>
                  <a:lnTo>
                    <a:pt x="5269399" y="0"/>
                  </a:lnTo>
                  <a:lnTo>
                    <a:pt x="5269399" y="3273391"/>
                  </a:lnTo>
                  <a:lnTo>
                    <a:pt x="0" y="3273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3262" r="-295" b="-5876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1031474"/>
              <a:ext cx="5062840" cy="1878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2363" indent="-176182" lvl="1">
                <a:lnSpc>
                  <a:spcPts val="2284"/>
                </a:lnSpc>
                <a:buAutoNum type="arabicPeriod" startAt="1"/>
              </a:pPr>
              <a:r>
                <a:rPr lang="en-US" sz="1632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Identify high-performing properties</a:t>
              </a:r>
            </a:p>
            <a:p>
              <a:pPr algn="l" marL="352363" indent="-176182" lvl="1">
                <a:lnSpc>
                  <a:spcPts val="2284"/>
                </a:lnSpc>
                <a:buAutoNum type="arabicPeriod" startAt="1"/>
              </a:pPr>
              <a:r>
                <a:rPr lang="en-US" sz="1632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Analyze demand trends by region</a:t>
              </a:r>
            </a:p>
            <a:p>
              <a:pPr algn="l" marL="352363" indent="-176182" lvl="1">
                <a:lnSpc>
                  <a:spcPts val="2284"/>
                </a:lnSpc>
                <a:buAutoNum type="arabicPeriod" startAt="1"/>
              </a:pPr>
              <a:r>
                <a:rPr lang="en-US" sz="1632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Evaluate rental pricing effectiveness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7961"/>
              <a:ext cx="4630959" cy="829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7"/>
                </a:lnSpc>
                <a:spcBef>
                  <a:spcPct val="0"/>
                </a:spcBef>
              </a:pPr>
              <a:r>
                <a:rPr lang="en-US" b="true" sz="1848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 The sys</a:t>
              </a:r>
              <a:r>
                <a:rPr lang="en-US" b="true" sz="1848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tem currently cannot: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07851" y="2433701"/>
            <a:ext cx="3380847" cy="1802353"/>
            <a:chOff x="0" y="0"/>
            <a:chExt cx="4507796" cy="24031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3941" y="0"/>
              <a:ext cx="4483855" cy="2403138"/>
            </a:xfrm>
            <a:custGeom>
              <a:avLst/>
              <a:gdLst/>
              <a:ahLst/>
              <a:cxnLst/>
              <a:rect r="r" b="b" t="t" l="l"/>
              <a:pathLst>
                <a:path h="2403138" w="4483855">
                  <a:moveTo>
                    <a:pt x="0" y="0"/>
                  </a:moveTo>
                  <a:lnTo>
                    <a:pt x="4483855" y="0"/>
                  </a:lnTo>
                  <a:lnTo>
                    <a:pt x="4483855" y="2403138"/>
                  </a:lnTo>
                  <a:lnTo>
                    <a:pt x="0" y="2403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6700" r="-4387" b="-852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268560"/>
              <a:ext cx="4507796" cy="418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6"/>
                </a:lnSpc>
              </a:pPr>
              <a:r>
                <a:rPr lang="en-US" sz="189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 Even though: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61557"/>
              <a:ext cx="4483855" cy="744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5"/>
                </a:lnSpc>
              </a:pPr>
              <a:r>
                <a:rPr lang="en-US" sz="1646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Not transformed into insights,</a:t>
              </a:r>
            </a:p>
            <a:p>
              <a:pPr algn="ctr">
                <a:lnSpc>
                  <a:spcPts val="2305"/>
                </a:lnSpc>
              </a:pPr>
              <a:r>
                <a:rPr lang="en-US" sz="1646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Not useful yet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97299" y="5773446"/>
            <a:ext cx="415900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“Data available but </a:t>
            </a:r>
            <a:r>
              <a:rPr lang="en-US" b="true" sz="2199" u="sng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not useful</a:t>
            </a:r>
            <a:r>
              <a:rPr lang="en-US" b="true" sz="2199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7795" y="0"/>
            <a:ext cx="8374380" cy="7315200"/>
          </a:xfrm>
          <a:custGeom>
            <a:avLst/>
            <a:gdLst/>
            <a:ahLst/>
            <a:cxnLst/>
            <a:rect r="r" b="b" t="t" l="l"/>
            <a:pathLst>
              <a:path h="7315200" w="8374380">
                <a:moveTo>
                  <a:pt x="0" y="7315200"/>
                </a:moveTo>
                <a:lnTo>
                  <a:pt x="0" y="0"/>
                </a:lnTo>
                <a:lnTo>
                  <a:pt x="8374380" y="0"/>
                </a:lnTo>
                <a:lnTo>
                  <a:pt x="8374380" y="7315200"/>
                </a:lnTo>
                <a:lnTo>
                  <a:pt x="0" y="7315200"/>
                </a:lnTo>
                <a:close/>
              </a:path>
            </a:pathLst>
          </a:custGeom>
          <a:blipFill>
            <a:blip r:embed="rId2"/>
            <a:stretch>
              <a:fillRect l="0" t="-40524" r="0" b="-310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3011" y="1893180"/>
            <a:ext cx="4101445" cy="2066977"/>
            <a:chOff x="0" y="0"/>
            <a:chExt cx="5468593" cy="27559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4779389" cy="45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2"/>
                </a:lnSpc>
              </a:pPr>
              <a:r>
                <a:rPr lang="en-US" sz="2374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This research aims to: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95050"/>
              <a:ext cx="5468593" cy="1681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10322" indent="-155161" lvl="1">
                <a:lnSpc>
                  <a:spcPts val="2615"/>
                </a:lnSpc>
                <a:buAutoNum type="arabicPeriod" startAt="1"/>
              </a:pPr>
              <a:r>
                <a:rPr lang="en-US" sz="1437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Develop an analytics dashboard</a:t>
              </a:r>
            </a:p>
            <a:p>
              <a:pPr algn="l" marL="310322" indent="-155161" lvl="1">
                <a:lnSpc>
                  <a:spcPts val="2615"/>
                </a:lnSpc>
                <a:buAutoNum type="arabicPeriod" startAt="1"/>
              </a:pPr>
              <a:r>
                <a:rPr lang="en-US" sz="1437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Apply EDA to rental data</a:t>
              </a:r>
            </a:p>
            <a:p>
              <a:pPr algn="l" marL="310322" indent="-155161" lvl="1">
                <a:lnSpc>
                  <a:spcPts val="2615"/>
                </a:lnSpc>
                <a:buAutoNum type="arabicPeriod" startAt="1"/>
              </a:pPr>
              <a:r>
                <a:rPr lang="en-US" sz="1437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Generate KPIs and visual insights</a:t>
              </a:r>
            </a:p>
            <a:p>
              <a:pPr algn="l" marL="310322" indent="-155161" lvl="1">
                <a:lnSpc>
                  <a:spcPts val="2615"/>
                </a:lnSpc>
                <a:buAutoNum type="arabicPeriod" startAt="1"/>
              </a:pPr>
              <a:r>
                <a:rPr lang="en-US" sz="1437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Support data-driven decision making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452163"/>
              <a:ext cx="5468593" cy="30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48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400000">
            <a:off x="8495275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9" id="9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36522" y="721995"/>
            <a:ext cx="648055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0"/>
              </a:lnSpc>
            </a:pPr>
            <a:r>
              <a:rPr lang="en-US" sz="5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Objectives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511591" y="3657600"/>
            <a:ext cx="4873596" cy="3229691"/>
            <a:chOff x="0" y="0"/>
            <a:chExt cx="6498128" cy="43062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651057"/>
              <a:ext cx="6498128" cy="3655197"/>
            </a:xfrm>
            <a:custGeom>
              <a:avLst/>
              <a:gdLst/>
              <a:ahLst/>
              <a:cxnLst/>
              <a:rect r="r" b="b" t="t" l="l"/>
              <a:pathLst>
                <a:path h="3655197" w="6498128">
                  <a:moveTo>
                    <a:pt x="0" y="0"/>
                  </a:moveTo>
                  <a:lnTo>
                    <a:pt x="6498128" y="0"/>
                  </a:lnTo>
                  <a:lnTo>
                    <a:pt x="6498128" y="3655197"/>
                  </a:lnTo>
                  <a:lnTo>
                    <a:pt x="0" y="365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4791606" y="-9525"/>
              <a:ext cx="1364779" cy="397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1"/>
                </a:lnSpc>
                <a:spcBef>
                  <a:spcPct val="0"/>
                </a:spcBef>
              </a:pPr>
              <a:r>
                <a:rPr lang="en-US" b="true" sz="1934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Example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591032" y="1709365"/>
            <a:ext cx="5852160" cy="3896469"/>
          </a:xfrm>
          <a:custGeom>
            <a:avLst/>
            <a:gdLst/>
            <a:ahLst/>
            <a:cxnLst/>
            <a:rect r="r" b="b" t="t" l="l"/>
            <a:pathLst>
              <a:path h="3896469" w="5852160">
                <a:moveTo>
                  <a:pt x="0" y="0"/>
                </a:moveTo>
                <a:lnTo>
                  <a:pt x="5852160" y="0"/>
                </a:lnTo>
                <a:lnTo>
                  <a:pt x="5852160" y="3896470"/>
                </a:lnTo>
                <a:lnTo>
                  <a:pt x="0" y="389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573" r="0" b="-6257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8118" y="1116747"/>
            <a:ext cx="3920223" cy="5749160"/>
            <a:chOff x="0" y="0"/>
            <a:chExt cx="5226964" cy="766554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5226964" cy="204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Scope and Limitation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410736"/>
              <a:ext cx="4814074" cy="733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0"/>
                </a:lnSpc>
              </a:pPr>
              <a:r>
                <a:rPr lang="en-US" sz="20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Focus only on: </a:t>
              </a:r>
            </a:p>
            <a:p>
              <a:pPr algn="ctr">
                <a:lnSpc>
                  <a:spcPts val="1834"/>
                </a:lnSpc>
              </a:pPr>
              <a:r>
                <a:rPr lang="en-US" sz="14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Analytics Dashboard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633405"/>
              <a:ext cx="4814074" cy="733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0"/>
                </a:lnSpc>
              </a:pPr>
              <a:r>
                <a:rPr lang="en-US" sz="20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Method: </a:t>
              </a:r>
            </a:p>
            <a:p>
              <a:pPr algn="ctr">
                <a:lnSpc>
                  <a:spcPts val="1834"/>
                </a:lnSpc>
              </a:pPr>
              <a:r>
                <a:rPr lang="en-US" sz="14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Exploratory Data Analysis (EDA)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522071"/>
              <a:ext cx="4814074" cy="733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0"/>
                </a:lnSpc>
              </a:pPr>
              <a:r>
                <a:rPr lang="en-US" sz="20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System: </a:t>
              </a:r>
            </a:p>
            <a:p>
              <a:pPr algn="ctr">
                <a:lnSpc>
                  <a:spcPts val="1834"/>
                </a:lnSpc>
              </a:pPr>
              <a:r>
                <a:rPr lang="en-US" sz="14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Existing system reused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820702"/>
              <a:ext cx="4814074" cy="733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0"/>
                </a:lnSpc>
              </a:pPr>
              <a:r>
                <a:rPr lang="en-US" sz="20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User: </a:t>
              </a:r>
            </a:p>
            <a:p>
              <a:pPr algn="ctr">
                <a:lnSpc>
                  <a:spcPts val="1834"/>
                </a:lnSpc>
              </a:pPr>
              <a:r>
                <a:rPr lang="en-US" sz="14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Admin only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932037"/>
              <a:ext cx="4814074" cy="733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0"/>
                </a:lnSpc>
              </a:pPr>
              <a:r>
                <a:rPr lang="en-US" sz="20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Data: </a:t>
              </a:r>
            </a:p>
            <a:p>
              <a:pPr algn="ctr">
                <a:lnSpc>
                  <a:spcPts val="1834"/>
                </a:lnSpc>
              </a:pPr>
              <a:r>
                <a:rPr lang="en-US" sz="14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Rental dataset (Kaggle)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468118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AutoShape 12" id="12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13" id="13"/>
          <p:cNvSpPr txBox="true"/>
          <p:nvPr/>
        </p:nvSpPr>
        <p:spPr>
          <a:xfrm rot="5400000">
            <a:off x="8205371" y="1374240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60075" y="3503014"/>
            <a:ext cx="4362005" cy="3080666"/>
          </a:xfrm>
          <a:custGeom>
            <a:avLst/>
            <a:gdLst/>
            <a:ahLst/>
            <a:cxnLst/>
            <a:rect r="r" b="b" t="t" l="l"/>
            <a:pathLst>
              <a:path h="3080666" w="4362005">
                <a:moveTo>
                  <a:pt x="0" y="0"/>
                </a:moveTo>
                <a:lnTo>
                  <a:pt x="4362005" y="0"/>
                </a:lnTo>
                <a:lnTo>
                  <a:pt x="4362005" y="3080666"/>
                </a:lnTo>
                <a:lnTo>
                  <a:pt x="0" y="3080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20" y="731520"/>
            <a:ext cx="3780884" cy="2672616"/>
            <a:chOff x="0" y="0"/>
            <a:chExt cx="5041179" cy="3563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631648"/>
              <a:ext cx="5041179" cy="2931840"/>
            </a:xfrm>
            <a:custGeom>
              <a:avLst/>
              <a:gdLst/>
              <a:ahLst/>
              <a:cxnLst/>
              <a:rect r="r" b="b" t="t" l="l"/>
              <a:pathLst>
                <a:path h="2931840" w="5041179">
                  <a:moveTo>
                    <a:pt x="0" y="0"/>
                  </a:moveTo>
                  <a:lnTo>
                    <a:pt x="5041179" y="0"/>
                  </a:lnTo>
                  <a:lnTo>
                    <a:pt x="5041179" y="2931840"/>
                  </a:lnTo>
                  <a:lnTo>
                    <a:pt x="0" y="293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46" r="0" b="-851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172897" y="-9525"/>
              <a:ext cx="3016596" cy="416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b="true" sz="2028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Admin Dashboard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84152" y="2832636"/>
            <a:ext cx="41138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b="true" sz="19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of adding dashboard analytics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3431" y="6401937"/>
            <a:ext cx="10411869" cy="2140283"/>
          </a:xfrm>
          <a:custGeom>
            <a:avLst/>
            <a:gdLst/>
            <a:ahLst/>
            <a:cxnLst/>
            <a:rect r="r" b="b" t="t" l="l"/>
            <a:pathLst>
              <a:path h="2140283" w="10411869">
                <a:moveTo>
                  <a:pt x="0" y="0"/>
                </a:moveTo>
                <a:lnTo>
                  <a:pt x="10411869" y="0"/>
                </a:lnTo>
                <a:lnTo>
                  <a:pt x="10411869" y="2140282"/>
                </a:lnTo>
                <a:lnTo>
                  <a:pt x="0" y="2140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625" r="0" b="-3146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731520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19129" y="2286000"/>
            <a:ext cx="5115341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6" id="6"/>
          <p:cNvSpPr txBox="true"/>
          <p:nvPr/>
        </p:nvSpPr>
        <p:spPr>
          <a:xfrm rot="5400000">
            <a:off x="8205371" y="1374240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5389351" y="2950951"/>
            <a:ext cx="7315200" cy="1413297"/>
          </a:xfrm>
          <a:custGeom>
            <a:avLst/>
            <a:gdLst/>
            <a:ahLst/>
            <a:cxnLst/>
            <a:rect r="r" b="b" t="t" l="l"/>
            <a:pathLst>
              <a:path h="1413297" w="7315200">
                <a:moveTo>
                  <a:pt x="0" y="0"/>
                </a:moveTo>
                <a:lnTo>
                  <a:pt x="7315200" y="0"/>
                </a:lnTo>
                <a:lnTo>
                  <a:pt x="7315200" y="1413298"/>
                </a:lnTo>
                <a:lnTo>
                  <a:pt x="0" y="1413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956" r="0" b="-3379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8118" y="952917"/>
            <a:ext cx="7643011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House Rental Management System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97292" y="2476479"/>
            <a:ext cx="7643011" cy="937869"/>
            <a:chOff x="0" y="0"/>
            <a:chExt cx="10190681" cy="125049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0190681" cy="400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rental management system is an information system designed to:</a:t>
              </a:r>
            </a:p>
            <a:p>
              <a:pPr algn="l">
                <a:lnSpc>
                  <a:spcPts val="48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5638" y="571678"/>
              <a:ext cx="8305006" cy="678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3" indent="-161927" lvl="1">
                <a:lnSpc>
                  <a:spcPts val="216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Manage pr</a:t>
              </a: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operty listings, tenants, and rental transactions</a:t>
              </a:r>
            </a:p>
            <a:p>
              <a:pPr algn="l" marL="323853" indent="-161927" lvl="1">
                <a:lnSpc>
                  <a:spcPts val="216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Support multi-role interaction (tenant, agent, and administrator)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68118" y="6056875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AutoShape 9" id="9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10" id="10"/>
          <p:cNvSpPr txBox="true"/>
          <p:nvPr/>
        </p:nvSpPr>
        <p:spPr>
          <a:xfrm rot="5400000">
            <a:off x="8205371" y="1374240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31520" y="3687236"/>
            <a:ext cx="7643011" cy="878598"/>
            <a:chOff x="0" y="0"/>
            <a:chExt cx="10190681" cy="117146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0190681" cy="321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Contribution: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5638" y="492649"/>
              <a:ext cx="8305006" cy="678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3" indent="-161927" lvl="1">
                <a:lnSpc>
                  <a:spcPts val="216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</a:t>
              </a: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ovides structured and centralized data management</a:t>
              </a:r>
            </a:p>
            <a:p>
              <a:pPr algn="l" marL="323853" indent="-161927" lvl="1">
                <a:lnSpc>
                  <a:spcPts val="216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Ensures organized handling of rental processes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4857238"/>
            <a:ext cx="7643011" cy="937869"/>
            <a:chOff x="0" y="0"/>
            <a:chExt cx="10190681" cy="125049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10190681" cy="400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Relevance to This Research:</a:t>
              </a:r>
            </a:p>
            <a:p>
              <a:pPr algn="l">
                <a:lnSpc>
                  <a:spcPts val="480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5638" y="571678"/>
              <a:ext cx="10145043" cy="678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3" indent="-161927" lvl="1">
                <a:lnSpc>
                  <a:spcPts val="216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Serves as a platf</a:t>
              </a: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orm to store and manage rental data</a:t>
              </a:r>
            </a:p>
            <a:p>
              <a:pPr algn="l" marL="323853" indent="-161927" lvl="1">
                <a:lnSpc>
                  <a:spcPts val="216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Supports data processing and visualization through an analytics dashboard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11503" y="724317"/>
            <a:ext cx="1672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98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63695" y="1464613"/>
            <a:ext cx="645838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(EDA)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56590" y="3331513"/>
            <a:ext cx="2137939" cy="1250759"/>
            <a:chOff x="0" y="0"/>
            <a:chExt cx="2850586" cy="166767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2850586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Suitable for: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23104"/>
              <a:ext cx="2850586" cy="1044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Understanding behavior</a:t>
              </a: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Not prediction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283065" y="3331513"/>
            <a:ext cx="2305800" cy="1020254"/>
            <a:chOff x="0" y="0"/>
            <a:chExt cx="3074400" cy="136033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3074400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Techniques: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94529"/>
              <a:ext cx="3074400" cy="765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Statistical summary</a:t>
              </a:r>
            </a:p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Visualization (charts)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49851" y="3331513"/>
            <a:ext cx="2135733" cy="2430695"/>
            <a:chOff x="0" y="0"/>
            <a:chExt cx="2847644" cy="32409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2847644" cy="114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EDA is a data analysis approach used to: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255917"/>
              <a:ext cx="2847644" cy="1985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Understand data structure</a:t>
              </a:r>
            </a:p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Identify patterns and trends</a:t>
              </a:r>
            </a:p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Detect anomalies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14" id="14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6666" y="724317"/>
            <a:ext cx="17695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96508" y="5762208"/>
            <a:ext cx="358471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→ insight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587459" y="2587459"/>
            <a:ext cx="7315200" cy="2140283"/>
          </a:xfrm>
          <a:custGeom>
            <a:avLst/>
            <a:gdLst/>
            <a:ahLst/>
            <a:cxnLst/>
            <a:rect r="r" b="b" t="t" l="l"/>
            <a:pathLst>
              <a:path h="2140283" w="7315200">
                <a:moveTo>
                  <a:pt x="0" y="0"/>
                </a:moveTo>
                <a:lnTo>
                  <a:pt x="7315200" y="0"/>
                </a:lnTo>
                <a:lnTo>
                  <a:pt x="7315200" y="2140282"/>
                </a:lnTo>
                <a:lnTo>
                  <a:pt x="0" y="2140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6179" r="0" b="-20617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06739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43371" y="917258"/>
            <a:ext cx="5584183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Support System (DSS)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AutoShape 6" id="6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7" id="7"/>
          <p:cNvSpPr txBox="true"/>
          <p:nvPr/>
        </p:nvSpPr>
        <p:spPr>
          <a:xfrm rot="5400000">
            <a:off x="8205371" y="1374240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760756" y="2926669"/>
            <a:ext cx="2709709" cy="944795"/>
            <a:chOff x="0" y="0"/>
            <a:chExt cx="3612945" cy="125972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3612945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DSS is a system that: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93917"/>
              <a:ext cx="3612945" cy="765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Assists decision making</a:t>
              </a:r>
            </a:p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Uses data + analysis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35164" y="731520"/>
            <a:ext cx="18767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115463" y="2926669"/>
            <a:ext cx="2412092" cy="944795"/>
            <a:chOff x="0" y="0"/>
            <a:chExt cx="3216123" cy="125972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3216123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Idea: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93917"/>
              <a:ext cx="3216123" cy="765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 </a:t>
              </a: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Not replacing humans</a:t>
              </a:r>
            </a:p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Supporting decisions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15611" y="4681089"/>
            <a:ext cx="3042541" cy="639995"/>
            <a:chOff x="0" y="0"/>
            <a:chExt cx="4056721" cy="85332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4056721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 this research: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493917"/>
              <a:ext cx="4056721" cy="359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23850" indent="-161925" lvl="1">
                <a:lnSpc>
                  <a:spcPts val="2415"/>
                </a:lnSpc>
                <a:buFont typeface="Arial"/>
                <a:buChar char="•"/>
              </a:pPr>
              <a:r>
                <a:rPr lang="en-US" b="true" sz="1500">
                  <a:solidFill>
                    <a:srgbClr val="003366"/>
                  </a:solidFill>
                  <a:latin typeface="Canva Sans Medium"/>
                  <a:ea typeface="Canva Sans Medium"/>
                  <a:cs typeface="Canva Sans Medium"/>
                  <a:sym typeface="Canva Sans Medium"/>
                </a:rPr>
                <a:t>Dashboard = DSS component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321100" y="6130709"/>
            <a:ext cx="546675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</a:t>
            </a:r>
            <a:r>
              <a:rPr lang="en-US" b="true" sz="21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operational system” → “strategic system”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29190" y="3301466"/>
            <a:ext cx="3960044" cy="2604384"/>
          </a:xfrm>
          <a:custGeom>
            <a:avLst/>
            <a:gdLst/>
            <a:ahLst/>
            <a:cxnLst/>
            <a:rect r="r" b="b" t="t" l="l"/>
            <a:pathLst>
              <a:path h="2604384" w="3960044">
                <a:moveTo>
                  <a:pt x="0" y="0"/>
                </a:moveTo>
                <a:lnTo>
                  <a:pt x="3960044" y="0"/>
                </a:lnTo>
                <a:lnTo>
                  <a:pt x="3960044" y="2604384"/>
                </a:lnTo>
                <a:lnTo>
                  <a:pt x="0" y="2604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68" r="0" b="-6396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896778" y="3301466"/>
            <a:ext cx="3960044" cy="2604384"/>
          </a:xfrm>
          <a:custGeom>
            <a:avLst/>
            <a:gdLst/>
            <a:ahLst/>
            <a:cxnLst/>
            <a:rect r="r" b="b" t="t" l="l"/>
            <a:pathLst>
              <a:path h="2604384" w="3960044">
                <a:moveTo>
                  <a:pt x="0" y="0"/>
                </a:moveTo>
                <a:lnTo>
                  <a:pt x="3960044" y="0"/>
                </a:lnTo>
                <a:lnTo>
                  <a:pt x="3960044" y="2604384"/>
                </a:lnTo>
                <a:lnTo>
                  <a:pt x="0" y="2604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68" r="0" b="-63968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2772556" y="3657600"/>
            <a:ext cx="3657" cy="92039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0">
            <a:off x="831745" y="3082667"/>
            <a:ext cx="194081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3854192"/>
            <a:ext cx="1940811" cy="1038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8286" indent="-124143" lvl="1">
              <a:lnSpc>
                <a:spcPts val="2127"/>
              </a:lnSpc>
              <a:buFont typeface="Arial"/>
              <a:buChar char="•"/>
            </a:pPr>
            <a:r>
              <a:rPr lang="en-US" sz="115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Converts data into graphical form</a:t>
            </a:r>
          </a:p>
          <a:p>
            <a:pPr algn="l" marL="248286" indent="-124143" lvl="1">
              <a:lnSpc>
                <a:spcPts val="2127"/>
              </a:lnSpc>
              <a:buFont typeface="Arial"/>
              <a:buChar char="•"/>
            </a:pPr>
            <a:r>
              <a:rPr lang="en-US" sz="115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Helps users understand complex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55077" y="3762992"/>
            <a:ext cx="2003777" cy="99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8286" indent="-124143" lvl="1">
              <a:lnSpc>
                <a:spcPts val="2058"/>
              </a:lnSpc>
              <a:buFont typeface="Arial"/>
              <a:buChar char="•"/>
            </a:pPr>
            <a:r>
              <a:rPr lang="en-US" sz="115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Helps users interpret data more easily</a:t>
            </a:r>
          </a:p>
          <a:p>
            <a:pPr algn="l" marL="248286" indent="-124143" lvl="1">
              <a:lnSpc>
                <a:spcPts val="2058"/>
              </a:lnSpc>
              <a:buFont typeface="Arial"/>
              <a:buChar char="•"/>
            </a:pPr>
            <a:r>
              <a:rPr lang="en-US" sz="115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Supports data-driven decision making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20906" y="3225542"/>
            <a:ext cx="121335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Benefits: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3951419" y="4634085"/>
            <a:ext cx="3657" cy="92039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2776213" y="731520"/>
            <a:ext cx="591610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b="true" sz="39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VISUALIZATION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8941558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5922746" y="3301466"/>
            <a:ext cx="3960044" cy="2604384"/>
          </a:xfrm>
          <a:custGeom>
            <a:avLst/>
            <a:gdLst/>
            <a:ahLst/>
            <a:cxnLst/>
            <a:rect r="r" b="b" t="t" l="l"/>
            <a:pathLst>
              <a:path h="2604384" w="3960044">
                <a:moveTo>
                  <a:pt x="0" y="0"/>
                </a:moveTo>
                <a:lnTo>
                  <a:pt x="3960044" y="0"/>
                </a:lnTo>
                <a:lnTo>
                  <a:pt x="3960044" y="2604384"/>
                </a:lnTo>
                <a:lnTo>
                  <a:pt x="0" y="2604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968" r="0" b="-63968"/>
            </a:stretch>
          </a:blipFill>
        </p:spPr>
      </p:sp>
      <p:sp>
        <p:nvSpPr>
          <p:cNvPr name="AutoShape 13" id="13"/>
          <p:cNvSpPr/>
          <p:nvPr/>
        </p:nvSpPr>
        <p:spPr>
          <a:xfrm rot="0">
            <a:off x="8824491" y="3657600"/>
            <a:ext cx="3657" cy="92039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7341145" y="2939792"/>
            <a:ext cx="148334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this study: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86062" y="3873460"/>
            <a:ext cx="2038429" cy="139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48286" indent="-124143" lvl="1">
              <a:lnSpc>
                <a:spcPts val="1610"/>
              </a:lnSpc>
              <a:buFont typeface="Arial"/>
              <a:buChar char="•"/>
            </a:pPr>
            <a:r>
              <a:rPr lang="en-US" sz="115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Rental data is visualized using charts</a:t>
            </a:r>
          </a:p>
          <a:p>
            <a:pPr algn="l" marL="248286" indent="-124143" lvl="1">
              <a:lnSpc>
                <a:spcPts val="1610"/>
              </a:lnSpc>
              <a:buFont typeface="Arial"/>
              <a:buChar char="•"/>
            </a:pPr>
            <a:r>
              <a:rPr lang="en-US" sz="115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Supports analysis of:</a:t>
            </a:r>
          </a:p>
          <a:p>
            <a:pPr algn="l" marL="496572" indent="-165524" lvl="2">
              <a:lnSpc>
                <a:spcPts val="1610"/>
              </a:lnSpc>
              <a:buFont typeface="Arial"/>
              <a:buChar char="⚬"/>
            </a:pPr>
            <a:r>
              <a:rPr lang="en-US" sz="115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rental trends</a:t>
            </a:r>
          </a:p>
          <a:p>
            <a:pPr algn="l" marL="496572" indent="-165524" lvl="2">
              <a:lnSpc>
                <a:spcPts val="1610"/>
              </a:lnSpc>
              <a:buFont typeface="Arial"/>
              <a:buChar char="⚬"/>
            </a:pPr>
            <a:r>
              <a:rPr lang="en-US" sz="115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demand by region</a:t>
            </a:r>
          </a:p>
          <a:p>
            <a:pPr algn="l" marL="496572" indent="-165524" lvl="2">
              <a:lnSpc>
                <a:spcPts val="1610"/>
              </a:lnSpc>
              <a:buFont typeface="Arial"/>
              <a:buChar char="⚬"/>
            </a:pPr>
            <a:r>
              <a:rPr lang="en-US" sz="1150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property performance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6043" y="660083"/>
            <a:ext cx="197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7605" y="1585411"/>
            <a:ext cx="721471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visualization is the process of transforming data into graphical representations such as charts and graphs.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9220" y="0"/>
            <a:ext cx="8374380" cy="7315200"/>
          </a:xfrm>
          <a:custGeom>
            <a:avLst/>
            <a:gdLst/>
            <a:ahLst/>
            <a:cxnLst/>
            <a:rect r="r" b="b" t="t" l="l"/>
            <a:pathLst>
              <a:path h="7315200" w="8374380">
                <a:moveTo>
                  <a:pt x="0" y="7315200"/>
                </a:moveTo>
                <a:lnTo>
                  <a:pt x="0" y="0"/>
                </a:lnTo>
                <a:lnTo>
                  <a:pt x="8374380" y="0"/>
                </a:lnTo>
                <a:lnTo>
                  <a:pt x="8374380" y="7315200"/>
                </a:lnTo>
                <a:lnTo>
                  <a:pt x="0" y="7315200"/>
                </a:lnTo>
                <a:close/>
              </a:path>
            </a:pathLst>
          </a:custGeom>
          <a:blipFill>
            <a:blip r:embed="rId2"/>
            <a:stretch>
              <a:fillRect l="0" t="-40524" r="0" b="-310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60943" y="2405330"/>
            <a:ext cx="5934333" cy="3627522"/>
            <a:chOff x="0" y="0"/>
            <a:chExt cx="7912443" cy="483669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7912443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KPIs are measurable metrics used to evaluate performance.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35944"/>
              <a:ext cx="4847006" cy="1847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 this system:</a:t>
              </a: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Total Rentals</a:t>
              </a: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Average Rent Price</a:t>
              </a: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Average Time to Rent</a:t>
              </a:r>
            </a:p>
            <a:p>
              <a:pPr algn="l" marL="323850" indent="-161925" lvl="1">
                <a:lnSpc>
                  <a:spcPts val="2100"/>
                </a:lnSpc>
                <a:buFont typeface="Arial"/>
                <a:buChar char="•"/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Occupancy Rate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700470"/>
              <a:ext cx="4520590" cy="1136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Function:</a:t>
              </a:r>
            </a:p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summ</a:t>
              </a:r>
              <a:r>
                <a:rPr lang="en-US" sz="15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arize large data into simple indicators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849676" y="698183"/>
            <a:ext cx="5356867" cy="111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Performance Indicators (KPI)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8495275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10" id="10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9317" y="660083"/>
            <a:ext cx="19109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3431" y="6401937"/>
            <a:ext cx="10411869" cy="2140283"/>
          </a:xfrm>
          <a:custGeom>
            <a:avLst/>
            <a:gdLst/>
            <a:ahLst/>
            <a:cxnLst/>
            <a:rect r="r" b="b" t="t" l="l"/>
            <a:pathLst>
              <a:path h="2140283" w="10411869">
                <a:moveTo>
                  <a:pt x="0" y="0"/>
                </a:moveTo>
                <a:lnTo>
                  <a:pt x="10411869" y="0"/>
                </a:lnTo>
                <a:lnTo>
                  <a:pt x="10411869" y="2140282"/>
                </a:lnTo>
                <a:lnTo>
                  <a:pt x="0" y="2140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625" r="0" b="-3146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731520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19129" y="1828800"/>
            <a:ext cx="5115341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&amp; 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6" id="6"/>
          <p:cNvSpPr txBox="true"/>
          <p:nvPr/>
        </p:nvSpPr>
        <p:spPr>
          <a:xfrm rot="5400000">
            <a:off x="8205371" y="1374240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4683108" y="1014439"/>
            <a:ext cx="7315200" cy="5286323"/>
          </a:xfrm>
          <a:custGeom>
            <a:avLst/>
            <a:gdLst/>
            <a:ahLst/>
            <a:cxnLst/>
            <a:rect r="r" b="b" t="t" l="l"/>
            <a:pathLst>
              <a:path h="5286323" w="7315200">
                <a:moveTo>
                  <a:pt x="0" y="0"/>
                </a:moveTo>
                <a:lnTo>
                  <a:pt x="7315200" y="0"/>
                </a:lnTo>
                <a:lnTo>
                  <a:pt x="7315200" y="5286322"/>
                </a:lnTo>
                <a:lnTo>
                  <a:pt x="0" y="5286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161" r="0" b="-7127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0">
            <a:off x="5372590" y="1248800"/>
            <a:ext cx="3420055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20"/>
              </a:lnSpc>
            </a:pPr>
            <a:r>
              <a:rPr lang="en-US" sz="51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98958" y="3201605"/>
            <a:ext cx="443392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280"/>
              </a:lnSpc>
              <a:buFont typeface="Arial"/>
              <a:buChar char="•"/>
            </a:pPr>
            <a:r>
              <a:rPr lang="en-US" b="true" sz="1900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Web-based house rental system</a:t>
            </a: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98958" y="3956844"/>
            <a:ext cx="7001299" cy="1805364"/>
            <a:chOff x="0" y="0"/>
            <a:chExt cx="9335065" cy="240715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6659182" cy="440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1" indent="-205106" lvl="1">
                <a:lnSpc>
                  <a:spcPts val="2869"/>
                </a:lnSpc>
                <a:buFont typeface="Arial"/>
                <a:buChar char="•"/>
              </a:pPr>
              <a:r>
                <a:rPr lang="en-US" b="true" sz="1900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Supports: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31498" y="516122"/>
              <a:ext cx="8803567" cy="1891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11" indent="-205106" lvl="1">
                <a:lnSpc>
                  <a:spcPts val="2850"/>
                </a:lnSpc>
                <a:buAutoNum type="arabicPeriod" startAt="1"/>
              </a:pPr>
              <a:r>
                <a:rPr lang="en-US" b="true" sz="1900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Tenant : </a:t>
              </a:r>
              <a:r>
                <a:rPr lang="en-US" sz="19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browse properties and submit rental requests</a:t>
              </a:r>
            </a:p>
            <a:p>
              <a:pPr algn="l" marL="410211" indent="-205106" lvl="1">
                <a:lnSpc>
                  <a:spcPts val="2850"/>
                </a:lnSpc>
                <a:buAutoNum type="arabicPeriod" startAt="1"/>
              </a:pPr>
              <a:r>
                <a:rPr lang="en-US" b="true" sz="1900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Agent : </a:t>
              </a:r>
              <a:r>
                <a:rPr lang="en-US" sz="19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manage property listings and handle requests</a:t>
              </a:r>
            </a:p>
            <a:p>
              <a:pPr algn="l" marL="410211" indent="-205106" lvl="1">
                <a:lnSpc>
                  <a:spcPts val="2850"/>
                </a:lnSpc>
                <a:buAutoNum type="arabicPeriod" startAt="1"/>
              </a:pPr>
              <a:r>
                <a:rPr lang="en-US" b="true" sz="1900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Admin : </a:t>
              </a:r>
              <a:r>
                <a:rPr lang="en-US" sz="1900">
                  <a:solidFill>
                    <a:srgbClr val="003366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monitor system activities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91224" y="660083"/>
            <a:ext cx="1672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8958" y="6190833"/>
            <a:ext cx="754334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 system</a:t>
            </a:r>
            <a:r>
              <a:rPr lang="en-US" b="true" sz="1899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manages rental data and supports operational processes.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436961" y="-905687"/>
            <a:ext cx="5852160" cy="3801219"/>
          </a:xfrm>
          <a:custGeom>
            <a:avLst/>
            <a:gdLst/>
            <a:ahLst/>
            <a:cxnLst/>
            <a:rect r="r" b="b" t="t" l="l"/>
            <a:pathLst>
              <a:path h="3801219" w="5852160">
                <a:moveTo>
                  <a:pt x="0" y="0"/>
                </a:moveTo>
                <a:lnTo>
                  <a:pt x="5852160" y="0"/>
                </a:lnTo>
                <a:lnTo>
                  <a:pt x="5852160" y="3801219"/>
                </a:lnTo>
                <a:lnTo>
                  <a:pt x="0" y="3801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394" r="0" b="-653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45617" y="2571432"/>
            <a:ext cx="6755278" cy="206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Although the system manages rental operations effectively:</a:t>
            </a:r>
          </a:p>
          <a:p>
            <a:pPr algn="l" marL="410208" indent="-205104" lvl="1">
              <a:lnSpc>
                <a:spcPts val="3343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It does not provide analytical features</a:t>
            </a:r>
          </a:p>
          <a:p>
            <a:pPr algn="l" marL="410208" indent="-205104" lvl="1">
              <a:lnSpc>
                <a:spcPts val="3343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It cannot transform data into meaningful insights</a:t>
            </a:r>
          </a:p>
          <a:p>
            <a:pPr algn="l" marL="410208" indent="-205104" lvl="1">
              <a:lnSpc>
                <a:spcPts val="3343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It lacks data visualization for decision making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23256" y="1258325"/>
            <a:ext cx="36988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6387" y="660083"/>
            <a:ext cx="17695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" y="545935"/>
            <a:ext cx="8656320" cy="6223330"/>
          </a:xfrm>
          <a:custGeom>
            <a:avLst/>
            <a:gdLst/>
            <a:ahLst/>
            <a:cxnLst/>
            <a:rect r="r" b="b" t="t" l="l"/>
            <a:pathLst>
              <a:path h="6223330" w="8656320">
                <a:moveTo>
                  <a:pt x="0" y="6223330"/>
                </a:moveTo>
                <a:lnTo>
                  <a:pt x="0" y="0"/>
                </a:lnTo>
                <a:lnTo>
                  <a:pt x="8656320" y="0"/>
                </a:lnTo>
                <a:lnTo>
                  <a:pt x="8656320" y="6223330"/>
                </a:lnTo>
                <a:lnTo>
                  <a:pt x="0" y="6223330"/>
                </a:lnTo>
                <a:close/>
              </a:path>
            </a:pathLst>
          </a:custGeom>
          <a:blipFill>
            <a:blip r:embed="rId2"/>
            <a:stretch>
              <a:fillRect l="0" t="0" r="0" b="-108511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310291" y="4123051"/>
            <a:ext cx="5080" cy="1278415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489142" y="2616577"/>
            <a:ext cx="7050107" cy="290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address these limitations, this study proposes:</a:t>
            </a:r>
          </a:p>
          <a:p>
            <a:pPr algn="l" marL="410209" indent="-205105" lvl="1">
              <a:lnSpc>
                <a:spcPts val="3305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An analytics dashboard</a:t>
            </a:r>
          </a:p>
          <a:p>
            <a:pPr algn="l" marL="410209" indent="-205105" lvl="1">
              <a:lnSpc>
                <a:spcPts val="3305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Application of Exploratory Data Analysis (EDA)</a:t>
            </a:r>
          </a:p>
          <a:p>
            <a:pPr algn="l" marL="410209" indent="-205105" lvl="1">
              <a:lnSpc>
                <a:spcPts val="3305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Visualization of rental data using charts and KPIs</a:t>
            </a:r>
          </a:p>
          <a:p>
            <a:pPr algn="l">
              <a:lnSpc>
                <a:spcPts val="3305"/>
              </a:lnSpc>
            </a:pPr>
          </a:p>
          <a:p>
            <a:pPr algn="ctr">
              <a:lnSpc>
                <a:spcPts val="3305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system transforms raw data into meaningful insights.</a:t>
            </a:r>
          </a:p>
          <a:p>
            <a:pPr algn="ctr">
              <a:lnSpc>
                <a:spcPts val="330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395925" y="1117328"/>
            <a:ext cx="369882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8495275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5" y="0"/>
                </a:lnTo>
                <a:lnTo>
                  <a:pt x="526805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1029" y="660083"/>
            <a:ext cx="18767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416560" y="3701678"/>
            <a:ext cx="5852160" cy="3801219"/>
          </a:xfrm>
          <a:custGeom>
            <a:avLst/>
            <a:gdLst/>
            <a:ahLst/>
            <a:cxnLst/>
            <a:rect r="r" b="b" t="t" l="l"/>
            <a:pathLst>
              <a:path h="3801219" w="5852160">
                <a:moveTo>
                  <a:pt x="0" y="0"/>
                </a:moveTo>
                <a:lnTo>
                  <a:pt x="5852160" y="0"/>
                </a:lnTo>
                <a:lnTo>
                  <a:pt x="5852160" y="3801218"/>
                </a:lnTo>
                <a:lnTo>
                  <a:pt x="0" y="3801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394" r="0" b="-653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49549" y="2571432"/>
            <a:ext cx="6755278" cy="332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Rental data is used to support analysis, including:</a:t>
            </a:r>
          </a:p>
          <a:p>
            <a:pPr algn="l" marL="410208" indent="-205104" lvl="1">
              <a:lnSpc>
                <a:spcPts val="3305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Rental price</a:t>
            </a:r>
          </a:p>
          <a:p>
            <a:pPr algn="l" marL="410208" indent="-205104" lvl="1">
              <a:lnSpc>
                <a:spcPts val="3305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operty region</a:t>
            </a:r>
          </a:p>
          <a:p>
            <a:pPr algn="l" marL="410208" indent="-205104" lvl="1">
              <a:lnSpc>
                <a:spcPts val="3305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Rental date</a:t>
            </a:r>
          </a:p>
          <a:p>
            <a:pPr algn="l" marL="410208" indent="-205104" lvl="1">
              <a:lnSpc>
                <a:spcPts val="3305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Transaction data</a:t>
            </a:r>
          </a:p>
          <a:p>
            <a:pPr algn="l">
              <a:lnSpc>
                <a:spcPts val="3305"/>
              </a:lnSpc>
            </a:pPr>
          </a:p>
          <a:p>
            <a:pPr algn="ctr">
              <a:lnSpc>
                <a:spcPts val="3343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 data is processed to generate KPIs and visual insights.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7616" y="731520"/>
            <a:ext cx="369882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Description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6043" y="660083"/>
            <a:ext cx="1976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821680" y="3383280"/>
            <a:ext cx="7315200" cy="548640"/>
          </a:xfrm>
          <a:custGeom>
            <a:avLst/>
            <a:gdLst/>
            <a:ahLst/>
            <a:cxnLst/>
            <a:rect r="r" b="b" t="t" l="l"/>
            <a:pathLst>
              <a:path h="548640" w="7315200">
                <a:moveTo>
                  <a:pt x="0" y="0"/>
                </a:moveTo>
                <a:lnTo>
                  <a:pt x="7315200" y="0"/>
                </a:lnTo>
                <a:lnTo>
                  <a:pt x="731520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9375" r="0" b="-9493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9161" y="914965"/>
            <a:ext cx="464669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sz="60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Flow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215878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00079" y="4168564"/>
            <a:ext cx="1870582" cy="26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8"/>
              </a:lnSpc>
            </a:pPr>
            <a:r>
              <a:rPr lang="en-US" sz="1807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0079" y="4584644"/>
            <a:ext cx="1870582" cy="45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7"/>
              </a:lnSpc>
            </a:pPr>
            <a:r>
              <a:rPr lang="en-US" sz="1326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 </a:t>
            </a:r>
          </a:p>
          <a:p>
            <a:pPr algn="ctr">
              <a:lnSpc>
                <a:spcPts val="1857"/>
              </a:lnSpc>
            </a:pPr>
            <a:r>
              <a:rPr lang="en-US" sz="1326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(EDA + KPI + Charts)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9861" y="4263706"/>
            <a:ext cx="1353659" cy="26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8"/>
              </a:lnSpc>
            </a:pPr>
            <a:r>
              <a:rPr lang="en-US" sz="1807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9861" y="4679787"/>
            <a:ext cx="1353659" cy="45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7"/>
              </a:lnSpc>
            </a:pPr>
            <a:r>
              <a:rPr lang="en-US" sz="1326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(System)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9861" y="2192211"/>
            <a:ext cx="1353659" cy="26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8"/>
              </a:lnSpc>
            </a:pPr>
            <a:r>
              <a:rPr lang="en-US" sz="1807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9861" y="2608292"/>
            <a:ext cx="1353659" cy="45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7"/>
              </a:lnSpc>
            </a:pPr>
            <a:r>
              <a:rPr lang="en-US" sz="1326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Cleaning &amp; Preparation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9961" y="2192211"/>
            <a:ext cx="1850701" cy="26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8"/>
              </a:lnSpc>
            </a:pPr>
            <a:r>
              <a:rPr lang="en-US" sz="1807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19961" y="2608292"/>
            <a:ext cx="1850701" cy="22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7"/>
              </a:lnSpc>
            </a:pPr>
            <a:r>
              <a:rPr lang="en-US" sz="1326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14" id="14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4499160" y="2763121"/>
            <a:ext cx="1272203" cy="181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>
            <a:off x="7162775" y="3284099"/>
            <a:ext cx="0" cy="7359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flipH="true">
            <a:off x="4629156" y="4580642"/>
            <a:ext cx="127233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779317" y="660083"/>
            <a:ext cx="19109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3185" y="5532564"/>
            <a:ext cx="7604100" cy="97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2"/>
              </a:lnSpc>
            </a:pPr>
            <a:r>
              <a:rPr lang="en-US" b="true" sz="176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dataset is fi</a:t>
            </a:r>
            <a:r>
              <a:rPr lang="en-US" b="true" sz="176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rst cleaned and prepared, then stored in the system database. The data is processed using EDA to generate KPIs and visualizations, which are displayed in the analytics dashboard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305551" y="3040127"/>
            <a:ext cx="5852160" cy="3801219"/>
          </a:xfrm>
          <a:custGeom>
            <a:avLst/>
            <a:gdLst/>
            <a:ahLst/>
            <a:cxnLst/>
            <a:rect r="r" b="b" t="t" l="l"/>
            <a:pathLst>
              <a:path h="3801219" w="5852160">
                <a:moveTo>
                  <a:pt x="0" y="0"/>
                </a:moveTo>
                <a:lnTo>
                  <a:pt x="5852160" y="0"/>
                </a:lnTo>
                <a:lnTo>
                  <a:pt x="5852160" y="3801218"/>
                </a:lnTo>
                <a:lnTo>
                  <a:pt x="0" y="3801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394" r="0" b="-653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49549" y="2363089"/>
            <a:ext cx="6755278" cy="374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dashboard presents:</a:t>
            </a:r>
          </a:p>
          <a:p>
            <a:pPr algn="l" marL="410208" indent="-205104" lvl="1">
              <a:lnSpc>
                <a:spcPts val="3343"/>
              </a:lnSpc>
              <a:buFont typeface="Arial"/>
              <a:buChar char="•"/>
            </a:pPr>
            <a:r>
              <a:rPr lang="en-US" b="true" sz="18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Performance Indicators (KPIs):</a:t>
            </a:r>
          </a:p>
          <a:p>
            <a:pPr algn="l" marL="820416" indent="-273472" lvl="2">
              <a:lnSpc>
                <a:spcPts val="3343"/>
              </a:lnSpc>
              <a:buFont typeface="Arial"/>
              <a:buChar char="⚬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Total rentals</a:t>
            </a:r>
          </a:p>
          <a:p>
            <a:pPr algn="l" marL="820416" indent="-273472" lvl="2">
              <a:lnSpc>
                <a:spcPts val="3343"/>
              </a:lnSpc>
              <a:buFont typeface="Arial"/>
              <a:buChar char="⚬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Average rent price</a:t>
            </a:r>
          </a:p>
          <a:p>
            <a:pPr algn="l" marL="820416" indent="-273472" lvl="2">
              <a:lnSpc>
                <a:spcPts val="3343"/>
              </a:lnSpc>
              <a:buFont typeface="Arial"/>
              <a:buChar char="⚬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Occupancy rate</a:t>
            </a:r>
          </a:p>
          <a:p>
            <a:pPr algn="l" marL="410208" indent="-205104" lvl="1">
              <a:lnSpc>
                <a:spcPts val="3343"/>
              </a:lnSpc>
              <a:buFont typeface="Arial"/>
              <a:buChar char="•"/>
            </a:pPr>
            <a:r>
              <a:rPr lang="en-US" b="true" sz="18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Visualizations:</a:t>
            </a:r>
          </a:p>
          <a:p>
            <a:pPr algn="l" marL="820416" indent="-273472" lvl="2">
              <a:lnSpc>
                <a:spcPts val="3343"/>
              </a:lnSpc>
              <a:buFont typeface="Arial"/>
              <a:buChar char="⚬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Rental trends</a:t>
            </a:r>
          </a:p>
          <a:p>
            <a:pPr algn="l" marL="820416" indent="-273472" lvl="2">
              <a:lnSpc>
                <a:spcPts val="3343"/>
              </a:lnSpc>
              <a:buFont typeface="Arial"/>
              <a:buChar char="⚬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Demand by region</a:t>
            </a:r>
          </a:p>
          <a:p>
            <a:pPr algn="l" marL="820416" indent="-273472" lvl="2">
              <a:lnSpc>
                <a:spcPts val="3343"/>
              </a:lnSpc>
              <a:buFont typeface="Arial"/>
              <a:buChar char="⚬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Property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7616" y="731520"/>
            <a:ext cx="369882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 Output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787" y="660083"/>
            <a:ext cx="2059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351558" y="-3831767"/>
            <a:ext cx="5852160" cy="3801219"/>
          </a:xfrm>
          <a:custGeom>
            <a:avLst/>
            <a:gdLst/>
            <a:ahLst/>
            <a:cxnLst/>
            <a:rect r="r" b="b" t="t" l="l"/>
            <a:pathLst>
              <a:path h="3801219" w="5852160">
                <a:moveTo>
                  <a:pt x="0" y="0"/>
                </a:moveTo>
                <a:lnTo>
                  <a:pt x="5852160" y="0"/>
                </a:lnTo>
                <a:lnTo>
                  <a:pt x="5852160" y="3801219"/>
                </a:lnTo>
                <a:lnTo>
                  <a:pt x="0" y="3801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394" r="0" b="-653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8878" y="2465370"/>
            <a:ext cx="6755278" cy="374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Stages:</a:t>
            </a:r>
          </a:p>
          <a:p>
            <a:pPr algn="l" marL="410208" indent="-205104" lvl="1">
              <a:lnSpc>
                <a:spcPts val="3343"/>
              </a:lnSpc>
              <a:buAutoNum type="arabicPeriod" startAt="1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Requirement Analysis</a:t>
            </a:r>
          </a:p>
          <a:p>
            <a:pPr algn="l" marL="410208" indent="-205104" lvl="1">
              <a:lnSpc>
                <a:spcPts val="3343"/>
              </a:lnSpc>
              <a:buAutoNum type="arabicPeriod" startAt="1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ystem Design</a:t>
            </a:r>
          </a:p>
          <a:p>
            <a:pPr algn="l" marL="410208" indent="-205104" lvl="1">
              <a:lnSpc>
                <a:spcPts val="3343"/>
              </a:lnSpc>
              <a:buAutoNum type="arabicPeriod" startAt="1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Implementation</a:t>
            </a:r>
          </a:p>
          <a:p>
            <a:pPr algn="l" marL="410208" indent="-205104" lvl="1">
              <a:lnSpc>
                <a:spcPts val="3343"/>
              </a:lnSpc>
              <a:buAutoNum type="arabicPeriod" startAt="1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Testing</a:t>
            </a:r>
          </a:p>
          <a:p>
            <a:pPr algn="l">
              <a:lnSpc>
                <a:spcPts val="3343"/>
              </a:lnSpc>
            </a:pPr>
          </a:p>
          <a:p>
            <a:pPr algn="l">
              <a:lnSpc>
                <a:spcPts val="3343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Reason:</a:t>
            </a:r>
          </a:p>
          <a:p>
            <a:pPr algn="l" marL="410208" indent="-205104" lvl="1">
              <a:lnSpc>
                <a:spcPts val="3343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tructured and sequential process</a:t>
            </a:r>
          </a:p>
          <a:p>
            <a:pPr algn="l" marL="410208" indent="-205104" lvl="1">
              <a:lnSpc>
                <a:spcPts val="3343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uitable for clearly defined system requirements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7616" y="1031558"/>
            <a:ext cx="36988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0335" y="660083"/>
            <a:ext cx="1608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9444" y="1763998"/>
            <a:ext cx="721471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Waterfall model is applied to develop the analytics dashboard as an enhancement to the existing system.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9088" y="-3069699"/>
            <a:ext cx="5852160" cy="3801219"/>
          </a:xfrm>
          <a:custGeom>
            <a:avLst/>
            <a:gdLst/>
            <a:ahLst/>
            <a:cxnLst/>
            <a:rect r="r" b="b" t="t" l="l"/>
            <a:pathLst>
              <a:path h="3801219" w="5852160">
                <a:moveTo>
                  <a:pt x="0" y="0"/>
                </a:moveTo>
                <a:lnTo>
                  <a:pt x="5852160" y="0"/>
                </a:lnTo>
                <a:lnTo>
                  <a:pt x="5852160" y="3801219"/>
                </a:lnTo>
                <a:lnTo>
                  <a:pt x="0" y="3801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394" r="0" b="-653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482" y="1698307"/>
            <a:ext cx="7752636" cy="386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The system is develop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ed using the following technologies: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b="true" sz="18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Laravel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sed as the backend framework to handle system logic and data processing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b="true" sz="18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MySQL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Used as th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 database to s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tore rental data and system information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b="true" sz="18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Chart.js :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 Used to visualize data in the form of charts within the dashboard</a:t>
            </a:r>
          </a:p>
          <a:p>
            <a:pPr algn="l">
              <a:lnSpc>
                <a:spcPts val="2849"/>
              </a:lnSpc>
            </a:pPr>
          </a:p>
          <a:p>
            <a:pPr algn="ctr">
              <a:lnSpc>
                <a:spcPts val="2849"/>
              </a:lnSpc>
            </a:pPr>
          </a:p>
          <a:p>
            <a:pPr algn="ctr">
              <a:lnSpc>
                <a:spcPts val="2849"/>
              </a:lnSpc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These technologies are integrated to support data processing and visualization in the analytics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7616" y="1031558"/>
            <a:ext cx="36988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3517" y="660083"/>
            <a:ext cx="19451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73072" y="-2081583"/>
            <a:ext cx="5852160" cy="3801219"/>
          </a:xfrm>
          <a:custGeom>
            <a:avLst/>
            <a:gdLst/>
            <a:ahLst/>
            <a:cxnLst/>
            <a:rect r="r" b="b" t="t" l="l"/>
            <a:pathLst>
              <a:path h="3801219" w="5852160">
                <a:moveTo>
                  <a:pt x="0" y="0"/>
                </a:moveTo>
                <a:lnTo>
                  <a:pt x="5852160" y="0"/>
                </a:lnTo>
                <a:lnTo>
                  <a:pt x="5852160" y="3801219"/>
                </a:lnTo>
                <a:lnTo>
                  <a:pt x="0" y="3801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394" r="0" b="-653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Freeform 5" id="5"/>
          <p:cNvSpPr/>
          <p:nvPr/>
        </p:nvSpPr>
        <p:spPr>
          <a:xfrm flipH="false" flipV="false" rot="0">
            <a:off x="5553800" y="4668566"/>
            <a:ext cx="823228" cy="847894"/>
          </a:xfrm>
          <a:custGeom>
            <a:avLst/>
            <a:gdLst/>
            <a:ahLst/>
            <a:cxnLst/>
            <a:rect r="r" b="b" t="t" l="l"/>
            <a:pathLst>
              <a:path h="847894" w="823228">
                <a:moveTo>
                  <a:pt x="0" y="0"/>
                </a:moveTo>
                <a:lnTo>
                  <a:pt x="823228" y="0"/>
                </a:lnTo>
                <a:lnTo>
                  <a:pt x="823228" y="847894"/>
                </a:lnTo>
                <a:lnTo>
                  <a:pt x="0" y="8478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75675" y="4569506"/>
            <a:ext cx="1450765" cy="946954"/>
          </a:xfrm>
          <a:custGeom>
            <a:avLst/>
            <a:gdLst/>
            <a:ahLst/>
            <a:cxnLst/>
            <a:rect r="r" b="b" t="t" l="l"/>
            <a:pathLst>
              <a:path h="946954" w="1450765">
                <a:moveTo>
                  <a:pt x="0" y="0"/>
                </a:moveTo>
                <a:lnTo>
                  <a:pt x="1450765" y="0"/>
                </a:lnTo>
                <a:lnTo>
                  <a:pt x="1450765" y="946954"/>
                </a:lnTo>
                <a:lnTo>
                  <a:pt x="0" y="946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00947" y="4940736"/>
            <a:ext cx="1279194" cy="1060132"/>
          </a:xfrm>
          <a:custGeom>
            <a:avLst/>
            <a:gdLst/>
            <a:ahLst/>
            <a:cxnLst/>
            <a:rect r="r" b="b" t="t" l="l"/>
            <a:pathLst>
              <a:path h="1060132" w="1279194">
                <a:moveTo>
                  <a:pt x="0" y="0"/>
                </a:moveTo>
                <a:lnTo>
                  <a:pt x="1279194" y="0"/>
                </a:lnTo>
                <a:lnTo>
                  <a:pt x="1279194" y="1060132"/>
                </a:lnTo>
                <a:lnTo>
                  <a:pt x="0" y="10601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23903" y="5174721"/>
            <a:ext cx="822448" cy="592163"/>
          </a:xfrm>
          <a:custGeom>
            <a:avLst/>
            <a:gdLst/>
            <a:ahLst/>
            <a:cxnLst/>
            <a:rect r="r" b="b" t="t" l="l"/>
            <a:pathLst>
              <a:path h="592163" w="822448">
                <a:moveTo>
                  <a:pt x="0" y="0"/>
                </a:moveTo>
                <a:lnTo>
                  <a:pt x="822448" y="0"/>
                </a:lnTo>
                <a:lnTo>
                  <a:pt x="822448" y="592162"/>
                </a:lnTo>
                <a:lnTo>
                  <a:pt x="0" y="59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482" y="2605461"/>
            <a:ext cx="7752636" cy="139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proposed system is exp</a:t>
            </a: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ected to: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de a clear and interactive analytics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 dashboar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Transform rental data into meaningful insig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hts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Help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users understand rental performance and trends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7616" y="731520"/>
            <a:ext cx="369882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6043" y="660083"/>
            <a:ext cx="22443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3049" y="4331381"/>
            <a:ext cx="1863084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9088" y="6021288"/>
            <a:ext cx="2344815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Data is only stored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41415" y="5845076"/>
            <a:ext cx="2585025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Data is analyzed and presented as insights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46650" y="1903865"/>
            <a:ext cx="5852160" cy="3202306"/>
          </a:xfrm>
          <a:custGeom>
            <a:avLst/>
            <a:gdLst/>
            <a:ahLst/>
            <a:cxnLst/>
            <a:rect r="r" b="b" t="t" l="l"/>
            <a:pathLst>
              <a:path h="3202306" w="5852160">
                <a:moveTo>
                  <a:pt x="0" y="0"/>
                </a:moveTo>
                <a:lnTo>
                  <a:pt x="5852160" y="0"/>
                </a:lnTo>
                <a:lnTo>
                  <a:pt x="5852160" y="3202306"/>
                </a:lnTo>
                <a:lnTo>
                  <a:pt x="0" y="3202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326" r="0" b="-776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482" y="2403157"/>
            <a:ext cx="7752636" cy="245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8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research contributes by: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Enhancing an existing rental management system with analytics features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Applying Exploratory Data Analysi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 (EDA) to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 rental data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Presenting data through KPIs and visualizations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Supporting data-driven decision making</a:t>
            </a:r>
          </a:p>
          <a:p>
            <a:pPr algn="ctr">
              <a:lnSpc>
                <a:spcPts val="284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527616" y="1031558"/>
            <a:ext cx="36988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Contribution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3517" y="660083"/>
            <a:ext cx="4306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418513" y="2361639"/>
            <a:ext cx="5852160" cy="4795886"/>
          </a:xfrm>
          <a:custGeom>
            <a:avLst/>
            <a:gdLst/>
            <a:ahLst/>
            <a:cxnLst/>
            <a:rect r="r" b="b" t="t" l="l"/>
            <a:pathLst>
              <a:path h="4795886" w="5852160">
                <a:moveTo>
                  <a:pt x="0" y="0"/>
                </a:moveTo>
                <a:lnTo>
                  <a:pt x="5852160" y="0"/>
                </a:lnTo>
                <a:lnTo>
                  <a:pt x="5852160" y="4795886"/>
                </a:lnTo>
                <a:lnTo>
                  <a:pt x="0" y="4795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091" r="0" b="-5183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5" id="5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482" y="1980247"/>
            <a:ext cx="7752636" cy="327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Data alone is not sufficient for decision making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 analy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sis is necessary to extract meaningful insights</a:t>
            </a:r>
          </a:p>
          <a:p>
            <a:pPr algn="l" marL="410208" indent="-205104" lvl="1">
              <a:lnSpc>
                <a:spcPts val="2849"/>
              </a:lnSpc>
              <a:buFont typeface="Arial"/>
              <a:buChar char="•"/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The analytics dashboard bridg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es th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 gap between raw data and decision making</a:t>
            </a:r>
          </a:p>
          <a:p>
            <a:pPr algn="ctr">
              <a:lnSpc>
                <a:spcPts val="2849"/>
              </a:lnSpc>
            </a:pPr>
          </a:p>
          <a:p>
            <a:pPr algn="ctr">
              <a:lnSpc>
                <a:spcPts val="2849"/>
              </a:lnSpc>
            </a:pPr>
          </a:p>
          <a:p>
            <a:pPr algn="ctr">
              <a:lnSpc>
                <a:spcPts val="2849"/>
              </a:lnSpc>
            </a:pP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 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study demonstrates how data can be transformed into actionabl</a:t>
            </a:r>
            <a:r>
              <a:rPr lang="en-US" sz="1899">
                <a:solidFill>
                  <a:srgbClr val="003366"/>
                </a:solidFill>
                <a:latin typeface="Canva Sans"/>
                <a:ea typeface="Canva Sans"/>
                <a:cs typeface="Canva Sans"/>
                <a:sym typeface="Canva Sans"/>
              </a:rPr>
              <a:t>e insights through visualization.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7616" y="1031558"/>
            <a:ext cx="36988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3517" y="660083"/>
            <a:ext cx="4306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950720" y="-7518666"/>
            <a:ext cx="5852160" cy="10648212"/>
          </a:xfrm>
          <a:custGeom>
            <a:avLst/>
            <a:gdLst/>
            <a:ahLst/>
            <a:cxnLst/>
            <a:rect r="r" b="b" t="t" l="l"/>
            <a:pathLst>
              <a:path h="10648212" w="5852160">
                <a:moveTo>
                  <a:pt x="0" y="0"/>
                </a:moveTo>
                <a:lnTo>
                  <a:pt x="5852160" y="0"/>
                </a:lnTo>
                <a:lnTo>
                  <a:pt x="5852160" y="10648212"/>
                </a:lnTo>
                <a:lnTo>
                  <a:pt x="0" y="106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89" t="0" r="-1068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04827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72898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Freeform 5" id="5"/>
          <p:cNvSpPr/>
          <p:nvPr/>
        </p:nvSpPr>
        <p:spPr>
          <a:xfrm flipH="false" flipV="false" rot="0">
            <a:off x="1520608" y="1862996"/>
            <a:ext cx="6712385" cy="5051070"/>
          </a:xfrm>
          <a:custGeom>
            <a:avLst/>
            <a:gdLst/>
            <a:ahLst/>
            <a:cxnLst/>
            <a:rect r="r" b="b" t="t" l="l"/>
            <a:pathLst>
              <a:path h="5051070" w="6712385">
                <a:moveTo>
                  <a:pt x="0" y="0"/>
                </a:moveTo>
                <a:lnTo>
                  <a:pt x="6712384" y="0"/>
                </a:lnTo>
                <a:lnTo>
                  <a:pt x="6712384" y="5051070"/>
                </a:lnTo>
                <a:lnTo>
                  <a:pt x="0" y="5051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5400000">
            <a:off x="-94714" y="5583456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7616" y="1031558"/>
            <a:ext cx="36988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 b="true">
                <a:solidFill>
                  <a:srgbClr val="0033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383280" y="3383280"/>
            <a:ext cx="7315200" cy="548640"/>
          </a:xfrm>
          <a:custGeom>
            <a:avLst/>
            <a:gdLst/>
            <a:ahLst/>
            <a:cxnLst/>
            <a:rect r="r" b="b" t="t" l="l"/>
            <a:pathLst>
              <a:path h="548640" w="7315200">
                <a:moveTo>
                  <a:pt x="0" y="0"/>
                </a:moveTo>
                <a:lnTo>
                  <a:pt x="7315200" y="0"/>
                </a:lnTo>
                <a:lnTo>
                  <a:pt x="731520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9375" r="0" b="-9493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18" y="731520"/>
            <a:ext cx="526805" cy="526805"/>
          </a:xfrm>
          <a:custGeom>
            <a:avLst/>
            <a:gdLst/>
            <a:ahLst/>
            <a:cxnLst/>
            <a:rect r="r" b="b" t="t" l="l"/>
            <a:pathLst>
              <a:path h="526805" w="526805">
                <a:moveTo>
                  <a:pt x="0" y="0"/>
                </a:moveTo>
                <a:lnTo>
                  <a:pt x="526804" y="0"/>
                </a:lnTo>
                <a:lnTo>
                  <a:pt x="526804" y="526805"/>
                </a:lnTo>
                <a:lnTo>
                  <a:pt x="0" y="5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61802" y="2823148"/>
            <a:ext cx="5429997" cy="1673625"/>
            <a:chOff x="0" y="0"/>
            <a:chExt cx="7239996" cy="22315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7239996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Thank you!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69500"/>
              <a:ext cx="7239996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Let me know if you have questions or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00336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need clarifications.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AutoShape 8" id="8"/>
          <p:cNvSpPr/>
          <p:nvPr/>
        </p:nvSpPr>
        <p:spPr>
          <a:xfrm rot="0">
            <a:off x="9017000" y="2926669"/>
            <a:ext cx="5080" cy="1461862"/>
          </a:xfrm>
          <a:prstGeom prst="rect">
            <a:avLst/>
          </a:prstGeom>
          <a:solidFill>
            <a:srgbClr val="003366"/>
          </a:solidFill>
        </p:spPr>
      </p:sp>
      <p:sp>
        <p:nvSpPr>
          <p:cNvPr name="TextBox 9" id="9"/>
          <p:cNvSpPr txBox="true"/>
          <p:nvPr/>
        </p:nvSpPr>
        <p:spPr>
          <a:xfrm rot="5400000">
            <a:off x="8205371" y="1374240"/>
            <a:ext cx="164294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 spc="55" b="true">
                <a:solidFill>
                  <a:srgbClr val="003366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Thesis Proposal |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DAHFne0StAc</dc:identifier>
  <dcterms:modified xsi:type="dcterms:W3CDTF">2011-08-01T06:04:30Z</dcterms:modified>
  <cp:revision>1</cp:revision>
  <dc:title>Copy of Marketing Plan Presentation in Blue and Yellow Gradient Style</dc:title>
</cp:coreProperties>
</file>